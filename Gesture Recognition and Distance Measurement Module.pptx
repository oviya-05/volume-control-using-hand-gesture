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69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3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77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37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82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705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049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164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9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01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46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BEFFD-E70B-4CE0-BEF6-033F155D2B4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08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-1"/>
            <a:ext cx="6772019" cy="414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5536" y="4144476"/>
            <a:ext cx="8568952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Controlling Volume with Hand Gestures using a Webcam</a:t>
            </a:r>
          </a:p>
          <a:p>
            <a:endParaRPr lang="en-US" sz="2400" dirty="0"/>
          </a:p>
          <a:p>
            <a:r>
              <a:rPr lang="en-US" sz="2400" dirty="0"/>
              <a:t>M2-Gesture Recognition and Distance Measurement Module</a:t>
            </a:r>
            <a:endParaRPr lang="en-IN" sz="2800" dirty="0"/>
          </a:p>
        </p:txBody>
      </p:sp>
      <p:sp>
        <p:nvSpPr>
          <p:cNvPr id="7" name="Rectangle 6"/>
          <p:cNvSpPr/>
          <p:nvPr/>
        </p:nvSpPr>
        <p:spPr>
          <a:xfrm>
            <a:off x="418704" y="5530544"/>
            <a:ext cx="77048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Mentor:Dr</a:t>
            </a:r>
            <a:r>
              <a:rPr lang="en-US" dirty="0"/>
              <a:t>. </a:t>
            </a:r>
            <a:r>
              <a:rPr lang="en-US" dirty="0" err="1"/>
              <a:t>D.Bhanu</a:t>
            </a:r>
            <a:r>
              <a:rPr lang="en-US" dirty="0"/>
              <a:t> </a:t>
            </a:r>
            <a:r>
              <a:rPr lang="en-US" dirty="0" err="1"/>
              <a:t>Prakash</a:t>
            </a:r>
            <a:r>
              <a:rPr lang="en-US" dirty="0"/>
              <a:t>   Presented </a:t>
            </a:r>
            <a:r>
              <a:rPr lang="en-US" dirty="0" err="1"/>
              <a:t>by:Oviya</a:t>
            </a:r>
            <a:r>
              <a:rPr lang="en-US" dirty="0"/>
              <a:t> K P</a:t>
            </a:r>
          </a:p>
          <a:p>
            <a:r>
              <a:rPr lang="en-US" dirty="0" err="1"/>
              <a:t>Saveetha</a:t>
            </a:r>
            <a:r>
              <a:rPr lang="en-US" dirty="0"/>
              <a:t> Engineering College</a:t>
            </a:r>
          </a:p>
        </p:txBody>
      </p:sp>
    </p:spTree>
    <p:extLst>
      <p:ext uri="{BB962C8B-B14F-4D97-AF65-F5344CB8AC3E}">
        <p14:creationId xmlns:p14="http://schemas.microsoft.com/office/powerpoint/2010/main" val="2231713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592" y="260648"/>
            <a:ext cx="8229600" cy="1143000"/>
          </a:xfrm>
        </p:spPr>
        <p:txBody>
          <a:bodyPr>
            <a:noAutofit/>
          </a:bodyPr>
          <a:lstStyle/>
          <a:p>
            <a:pPr algn="l"/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Milestone 2-Gesture Recognition and Distance Measurement Module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592" y="1916833"/>
            <a:ext cx="8229600" cy="3096344"/>
          </a:xfrm>
        </p:spPr>
        <p:txBody>
          <a:bodyPr>
            <a:normAutofit/>
          </a:bodyPr>
          <a:lstStyle/>
          <a:p>
            <a:r>
              <a:rPr lang="en-US" sz="2400" dirty="0"/>
              <a:t>The distance between thumb and index finger tips will be calculated.</a:t>
            </a:r>
          </a:p>
          <a:p>
            <a:r>
              <a:rPr lang="en-US" sz="2400" dirty="0"/>
              <a:t>Gestures will be classified based on this distance to represent control actions.</a:t>
            </a:r>
          </a:p>
          <a:p>
            <a:r>
              <a:rPr lang="en-US" sz="2400" dirty="0"/>
              <a:t>Output Screenshots:</a:t>
            </a:r>
          </a:p>
          <a:p>
            <a:pPr lvl="1"/>
            <a:r>
              <a:rPr lang="en-US" sz="2400" dirty="0"/>
              <a:t>Live camera feed with gesture annotations</a:t>
            </a:r>
          </a:p>
          <a:p>
            <a:pPr lvl="1"/>
            <a:r>
              <a:rPr lang="en-US" sz="2400" dirty="0"/>
              <a:t>Calculated distance values shown in overlay</a:t>
            </a:r>
          </a:p>
        </p:txBody>
      </p:sp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525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b="1" dirty="0"/>
              <a:t>✋ Gesture Recognition and Distance Measurement</a:t>
            </a:r>
            <a:endParaRPr lang="en-IN" sz="36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700808"/>
            <a:ext cx="8229600" cy="254888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Importing Libraries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Initializing </a:t>
            </a:r>
            <a:r>
              <a:rPr lang="en-US" dirty="0" err="1"/>
              <a:t>MediaPipe</a:t>
            </a:r>
            <a:r>
              <a:rPr lang="en-US" dirty="0"/>
              <a:t> Hands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Capturing Frame from Webcam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Processing the frame</a:t>
            </a:r>
          </a:p>
          <a:p>
            <a:endParaRPr lang="en-IN" dirty="0"/>
          </a:p>
        </p:txBody>
      </p:sp>
      <p:pic>
        <p:nvPicPr>
          <p:cNvPr id="6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838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Importing Libraries</a:t>
            </a:r>
            <a:br>
              <a:rPr lang="en-US" b="1" dirty="0"/>
            </a:br>
            <a:endParaRPr lang="en-IN" b="1" dirty="0"/>
          </a:p>
        </p:txBody>
      </p:sp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944909"/>
              </p:ext>
            </p:extLst>
          </p:nvPr>
        </p:nvGraphicFramePr>
        <p:xfrm>
          <a:off x="457200" y="16002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Library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Functional Area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MediaPipe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Core Detection Framework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numpy</a:t>
                      </a: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Numerical Computation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pandas 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 Management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matplotlib.pyplot</a:t>
                      </a: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Visualization/Analysis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Video Capture Modules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Input and </a:t>
                      </a:r>
                      <a:r>
                        <a:rPr lang="en-IN" b="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Preprocessing</a:t>
                      </a:r>
                      <a:endParaRPr lang="en-IN" b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360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Initializing </a:t>
            </a:r>
            <a:r>
              <a:rPr lang="en-IN" b="1" dirty="0" err="1"/>
              <a:t>MediaPipe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mp_hands</a:t>
            </a:r>
            <a:r>
              <a:rPr lang="en-US" sz="2400" dirty="0"/>
              <a:t> = </a:t>
            </a:r>
            <a:r>
              <a:rPr lang="en-US" sz="2400" dirty="0" err="1"/>
              <a:t>mp.solutions.hands</a:t>
            </a:r>
            <a:endParaRPr lang="en-US" sz="2400" dirty="0"/>
          </a:p>
          <a:p>
            <a:r>
              <a:rPr lang="en-US" sz="2400" dirty="0" err="1"/>
              <a:t>mp_drawing</a:t>
            </a:r>
            <a:r>
              <a:rPr lang="en-US" sz="2400" dirty="0"/>
              <a:t> = </a:t>
            </a:r>
            <a:r>
              <a:rPr lang="en-US" sz="2400" dirty="0" err="1"/>
              <a:t>mp.solutions.drawing_utils</a:t>
            </a:r>
            <a:endParaRPr lang="en-US" sz="2400" dirty="0"/>
          </a:p>
          <a:p>
            <a:r>
              <a:rPr lang="en-US" sz="2400" dirty="0"/>
              <a:t>hands = </a:t>
            </a:r>
            <a:r>
              <a:rPr lang="en-US" sz="2400" dirty="0" err="1"/>
              <a:t>mp_hands.Hands</a:t>
            </a:r>
            <a:r>
              <a:rPr lang="en-US" sz="2400" dirty="0"/>
              <a:t>(</a:t>
            </a:r>
          </a:p>
          <a:p>
            <a:pPr lvl="1">
              <a:buFont typeface="Arial"/>
              <a:buChar char="•"/>
            </a:pPr>
            <a:r>
              <a:rPr lang="en-US" sz="2000" dirty="0" err="1"/>
              <a:t>static_image_mode</a:t>
            </a:r>
            <a:r>
              <a:rPr lang="en-US" sz="2000" dirty="0"/>
              <a:t> = False,</a:t>
            </a:r>
          </a:p>
          <a:p>
            <a:pPr lvl="1">
              <a:buFont typeface="Arial"/>
              <a:buChar char="•"/>
            </a:pPr>
            <a:r>
              <a:rPr lang="en-US" sz="2000" dirty="0" err="1"/>
              <a:t>max_num_hands</a:t>
            </a:r>
            <a:r>
              <a:rPr lang="en-US" sz="2000" dirty="0"/>
              <a:t> = 2,</a:t>
            </a:r>
          </a:p>
          <a:p>
            <a:pPr lvl="1">
              <a:buFont typeface="Arial"/>
              <a:buChar char="•"/>
            </a:pPr>
            <a:r>
              <a:rPr lang="en-US" sz="2000" dirty="0" err="1"/>
              <a:t>min_detection_confidence</a:t>
            </a:r>
            <a:r>
              <a:rPr lang="en-US" sz="2000" dirty="0"/>
              <a:t> = 0.75,</a:t>
            </a:r>
          </a:p>
          <a:p>
            <a:pPr lvl="1">
              <a:buFont typeface="Arial"/>
              <a:buChar char="•"/>
            </a:pPr>
            <a:r>
              <a:rPr lang="en-US" sz="2000" dirty="0" err="1"/>
              <a:t>min_tracking_confidence</a:t>
            </a:r>
            <a:r>
              <a:rPr lang="en-US" sz="2000" dirty="0"/>
              <a:t> = 0.75)</a:t>
            </a:r>
          </a:p>
          <a:p>
            <a:r>
              <a:rPr lang="en-US" sz="2400" dirty="0"/>
              <a:t>Sets up the </a:t>
            </a:r>
            <a:r>
              <a:rPr lang="en-US" sz="2400" b="1" dirty="0"/>
              <a:t>hand detection model</a:t>
            </a:r>
            <a:r>
              <a:rPr lang="en-US" sz="2400" dirty="0"/>
              <a:t> with specified parameters and options like tracking enabled.</a:t>
            </a:r>
          </a:p>
          <a:p>
            <a:r>
              <a:rPr lang="en-US" sz="2400" dirty="0"/>
              <a:t>Detects up to </a:t>
            </a:r>
            <a:r>
              <a:rPr lang="en-US" sz="2400" b="1" dirty="0"/>
              <a:t>2 hands</a:t>
            </a:r>
            <a:r>
              <a:rPr lang="en-US" sz="2400" dirty="0"/>
              <a:t> and tracks </a:t>
            </a:r>
            <a:r>
              <a:rPr lang="en-US" sz="2400" b="1" dirty="0"/>
              <a:t>21 key landmarks per hand</a:t>
            </a:r>
            <a:r>
              <a:rPr lang="en-US" sz="2400" dirty="0"/>
              <a:t>.</a:t>
            </a:r>
          </a:p>
          <a:p>
            <a:endParaRPr lang="en-IN" sz="2400" dirty="0"/>
          </a:p>
        </p:txBody>
      </p:sp>
      <p:pic>
        <p:nvPicPr>
          <p:cNvPr id="5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095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Distance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43192" cy="4525963"/>
          </a:xfrm>
        </p:spPr>
        <p:txBody>
          <a:bodyPr>
            <a:normAutofit/>
          </a:bodyPr>
          <a:lstStyle/>
          <a:p>
            <a:r>
              <a:rPr lang="en-US" sz="2400" b="1" dirty="0"/>
              <a:t>1. Core Calculation</a:t>
            </a:r>
          </a:p>
          <a:p>
            <a:pPr lvl="1"/>
            <a:r>
              <a:rPr lang="en-US" sz="2000" b="1" dirty="0"/>
              <a:t>Metric:</a:t>
            </a:r>
            <a:r>
              <a:rPr lang="en-US" sz="2000" dirty="0"/>
              <a:t> </a:t>
            </a:r>
            <a:r>
              <a:rPr lang="en-US" sz="2000" b="1" dirty="0"/>
              <a:t>3D Euclidean Distance</a:t>
            </a:r>
            <a:r>
              <a:rPr lang="en-US" sz="2000" dirty="0"/>
              <a:t> for superior spatial accuracy.</a:t>
            </a:r>
          </a:p>
          <a:p>
            <a:pPr lvl="1"/>
            <a:r>
              <a:rPr lang="en-US" sz="2000" b="1" dirty="0"/>
              <a:t>Target:</a:t>
            </a:r>
            <a:r>
              <a:rPr lang="en-US" sz="2000" dirty="0"/>
              <a:t> Measuring distance between </a:t>
            </a:r>
            <a:r>
              <a:rPr lang="en-US" sz="2000" b="1" dirty="0"/>
              <a:t>Thumb and Index Tips</a:t>
            </a:r>
            <a:r>
              <a:rPr lang="en-US" sz="2000" dirty="0"/>
              <a:t>.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b="1" dirty="0"/>
              <a:t>2. Reliability &amp; Consistency</a:t>
            </a:r>
          </a:p>
          <a:p>
            <a:pPr lvl="1"/>
            <a:r>
              <a:rPr lang="en-US" sz="2000" b="1" dirty="0"/>
              <a:t>Data:</a:t>
            </a:r>
            <a:r>
              <a:rPr lang="en-US" sz="2000" dirty="0"/>
              <a:t> Uses </a:t>
            </a:r>
            <a:r>
              <a:rPr lang="en-US" sz="2000" b="1" dirty="0"/>
              <a:t>Normalized Coordinates</a:t>
            </a:r>
            <a:r>
              <a:rPr lang="en-US" sz="2000" dirty="0"/>
              <a:t> for input.</a:t>
            </a:r>
          </a:p>
          <a:p>
            <a:pPr lvl="1"/>
            <a:r>
              <a:rPr lang="en-US" sz="2000" b="1" dirty="0"/>
              <a:t>Benefit:</a:t>
            </a:r>
            <a:r>
              <a:rPr lang="en-US" sz="2000" dirty="0"/>
              <a:t> Ensures </a:t>
            </a:r>
            <a:r>
              <a:rPr lang="en-US" sz="2000" b="1" dirty="0"/>
              <a:t>Scale-Invariant Precision</a:t>
            </a:r>
            <a:r>
              <a:rPr lang="en-US" sz="2000" dirty="0"/>
              <a:t> across all resolutions.</a:t>
            </a:r>
          </a:p>
          <a:p>
            <a:r>
              <a:rPr lang="en-US" sz="2400" b="1" dirty="0"/>
              <a:t>3. Application</a:t>
            </a:r>
          </a:p>
          <a:p>
            <a:pPr lvl="1"/>
            <a:r>
              <a:rPr lang="en-US" sz="2000" b="1" dirty="0"/>
              <a:t>Function:</a:t>
            </a:r>
            <a:r>
              <a:rPr lang="en-US" sz="2000" dirty="0"/>
              <a:t> Foundation for </a:t>
            </a:r>
            <a:r>
              <a:rPr lang="en-US" sz="2000" b="1" dirty="0"/>
              <a:t>Real-Time Pinch Detection</a:t>
            </a:r>
            <a:r>
              <a:rPr lang="en-US" sz="2000" dirty="0"/>
              <a:t>.</a:t>
            </a:r>
          </a:p>
          <a:p>
            <a:pPr lvl="1"/>
            <a:r>
              <a:rPr lang="en-US" sz="2000" b="1" dirty="0"/>
              <a:t>Result:</a:t>
            </a:r>
            <a:r>
              <a:rPr lang="en-US" sz="2000" dirty="0"/>
              <a:t> Enables </a:t>
            </a:r>
            <a:r>
              <a:rPr lang="en-US" sz="2000" b="1" dirty="0"/>
              <a:t>Interactive Gesture Control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2733675"/>
            <a:ext cx="452437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099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8560" y="23335"/>
            <a:ext cx="9619033" cy="6834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5611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41378"/>
            <a:ext cx="3888432" cy="6267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04" y="1757958"/>
            <a:ext cx="3816424" cy="3021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6093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93132" y="2716362"/>
            <a:ext cx="3166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Thank you</a:t>
            </a:r>
            <a:endParaRPr lang="en-IN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907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285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Google Sans Text</vt:lpstr>
      <vt:lpstr>Office Theme</vt:lpstr>
      <vt:lpstr>PowerPoint Presentation</vt:lpstr>
      <vt:lpstr>  Milestone 2-Gesture Recognition and Distance Measurement Module </vt:lpstr>
      <vt:lpstr>✋ Gesture Recognition and Distance Measurement</vt:lpstr>
      <vt:lpstr>Importing Libraries </vt:lpstr>
      <vt:lpstr>Initializing MediaPipe</vt:lpstr>
      <vt:lpstr>Distance Calculation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Oviya K P</dc:creator>
  <cp:lastModifiedBy>Oviya K P</cp:lastModifiedBy>
  <cp:revision>5</cp:revision>
  <dcterms:created xsi:type="dcterms:W3CDTF">2025-11-10T13:23:45Z</dcterms:created>
  <dcterms:modified xsi:type="dcterms:W3CDTF">2025-12-12T21:12:46Z</dcterms:modified>
</cp:coreProperties>
</file>